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65" d="100"/>
          <a:sy n="65" d="100"/>
        </p:scale>
        <p:origin x="700" y="6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39556128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2C5F2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1737360"/>
            <a:ext cx="108813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Smart Nkunganire System (SNS)</a:t>
            </a:r>
            <a:endParaRPr lang="en-US" sz="3800" dirty="0"/>
          </a:p>
        </p:txBody>
      </p:sp>
      <p:sp>
        <p:nvSpPr>
          <p:cNvPr id="3" name="Text 1"/>
          <p:cNvSpPr/>
          <p:nvPr/>
        </p:nvSpPr>
        <p:spPr>
          <a:xfrm>
            <a:off x="640080" y="2651760"/>
            <a:ext cx="10881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97BC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Anti-Fraud &amp; Soil-Specific Subsidy Allocator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9692640" y="548640"/>
            <a:ext cx="1828800" cy="1828800"/>
          </a:xfrm>
          <a:prstGeom prst="ellipse">
            <a:avLst/>
          </a:prstGeom>
          <a:solidFill>
            <a:srgbClr val="97BC62">
              <a:alpha val="20000"/>
            </a:srgbClr>
          </a:solidFill>
          <a:ln/>
        </p:spPr>
      </p:sp>
      <p:sp>
        <p:nvSpPr>
          <p:cNvPr id="5" name="Text 3"/>
          <p:cNvSpPr/>
          <p:nvPr/>
        </p:nvSpPr>
        <p:spPr>
          <a:xfrm>
            <a:off x="640080" y="4480560"/>
            <a:ext cx="10881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D7E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DPR400210 Capstone Project | UNILAK Faculty of Computing and Information Sciences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D7E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Academic Year 2025-2026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0515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2C5F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Introduction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48640" y="1280160"/>
            <a:ext cx="6400800" cy="3200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1200"/>
              </a:spcAft>
              <a:buNone/>
            </a:pPr>
            <a:r>
              <a:rPr lang="en-US" sz="1500" dirty="0">
                <a:solidFill>
                  <a:srgbClr val="1E2B1E"/>
                </a:solidFill>
              </a:rPr>
              <a:t>Rwanda's national Smart Nkunganire System (SNS) digitalizes subsidized seed and fertilizer distribution to millions of smallholder farmers via USSD (*774#).</a:t>
            </a:r>
            <a:endParaRPr lang="en-US" sz="1500" dirty="0"/>
          </a:p>
          <a:p>
            <a:pPr marL="0" indent="0">
              <a:buNone/>
            </a:pPr>
            <a:r>
              <a:rPr lang="en-US" sz="1500" dirty="0">
                <a:solidFill>
                  <a:srgbClr val="1E2B1E"/>
                </a:solidFill>
              </a:rPr>
              <a:t>This capstone re-engineers the transaction layer of SNS to close two real gaps: agro-dealer fraud, and soil-blind over-allocation.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7223760" y="1280160"/>
            <a:ext cx="4297680" cy="3291840"/>
          </a:xfrm>
          <a:prstGeom prst="roundRect">
            <a:avLst>
              <a:gd name="adj" fmla="val 2222"/>
            </a:avLst>
          </a:prstGeom>
          <a:solidFill>
            <a:srgbClr val="F5F5F5"/>
          </a:solidFill>
          <a:ln/>
        </p:spPr>
      </p:sp>
      <p:sp>
        <p:nvSpPr>
          <p:cNvPr id="5" name="Text 3"/>
          <p:cNvSpPr/>
          <p:nvPr/>
        </p:nvSpPr>
        <p:spPr>
          <a:xfrm>
            <a:off x="7406640" y="2468880"/>
            <a:ext cx="39319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i="1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RAB  +  BK TecHouse  +  RwSIS</a:t>
            </a:r>
            <a:endParaRPr lang="en-US" sz="1400" dirty="0"/>
          </a:p>
          <a:p>
            <a:pPr marL="0" indent="0" algn="ctr">
              <a:buNone/>
            </a:pPr>
            <a:r>
              <a:rPr lang="en-US" sz="1400" i="1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power the national subsidy chain</a:t>
            </a:r>
            <a:endParaRPr lang="en-US" sz="1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0515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2C5F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Problem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548640" y="1417320"/>
            <a:ext cx="320040" cy="320040"/>
          </a:xfrm>
          <a:prstGeom prst="ellipse">
            <a:avLst/>
          </a:prstGeom>
          <a:solidFill>
            <a:srgbClr val="B85042"/>
          </a:solidFill>
          <a:ln/>
        </p:spPr>
      </p:sp>
      <p:sp>
        <p:nvSpPr>
          <p:cNvPr id="4" name="Text 2"/>
          <p:cNvSpPr/>
          <p:nvPr/>
        </p:nvSpPr>
        <p:spPr>
          <a:xfrm>
            <a:off x="1051560" y="1371600"/>
            <a:ext cx="9875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Agro-dealer fraud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1051560" y="1783080"/>
            <a:ext cx="9875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E2B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Dealers key in vulnerable farmers' National IDs to create ghost transactions, hoard fertilizer, and resell it at double price on the black market.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548640" y="2788920"/>
            <a:ext cx="320040" cy="320040"/>
          </a:xfrm>
          <a:prstGeom prst="ellipse">
            <a:avLst/>
          </a:prstGeom>
          <a:solidFill>
            <a:srgbClr val="B85042"/>
          </a:solidFill>
          <a:ln/>
        </p:spPr>
      </p:sp>
      <p:sp>
        <p:nvSpPr>
          <p:cNvPr id="7" name="Text 5"/>
          <p:cNvSpPr/>
          <p:nvPr/>
        </p:nvSpPr>
        <p:spPr>
          <a:xfrm>
            <a:off x="1051560" y="2743200"/>
            <a:ext cx="9875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Soil over-allocation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1051560" y="3154680"/>
            <a:ext cx="9875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E2B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Flat subsidy caps ignore RwSIS soil-health data, risking degradation from over-fertilization across differing sectors (potato vs. maize zones).</a:t>
            </a:r>
            <a:endParaRPr lang="en-US" sz="13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0515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2C5F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Methodology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548640" y="2011680"/>
            <a:ext cx="1554480" cy="1280160"/>
          </a:xfrm>
          <a:prstGeom prst="roundRect">
            <a:avLst>
              <a:gd name="adj" fmla="val 5714"/>
            </a:avLst>
          </a:prstGeom>
          <a:solidFill>
            <a:srgbClr val="2C5F2D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2011680"/>
            <a:ext cx="15544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analysis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2103120" y="2011680"/>
            <a:ext cx="2286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2C5F2D"/>
                </a:solidFill>
              </a:rPr>
              <a:t>→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2331720" y="2011680"/>
            <a:ext cx="1554480" cy="1280160"/>
          </a:xfrm>
          <a:prstGeom prst="roundRect">
            <a:avLst>
              <a:gd name="adj" fmla="val 5714"/>
            </a:avLst>
          </a:prstGeom>
          <a:solidFill>
            <a:srgbClr val="97BC62"/>
          </a:solidFill>
          <a:ln/>
        </p:spPr>
      </p:sp>
      <p:sp>
        <p:nvSpPr>
          <p:cNvPr id="7" name="Text 5"/>
          <p:cNvSpPr/>
          <p:nvPr/>
        </p:nvSpPr>
        <p:spPr>
          <a:xfrm>
            <a:off x="2331720" y="2011680"/>
            <a:ext cx="15544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process model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3886200" y="2011680"/>
            <a:ext cx="2286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2C5F2D"/>
                </a:solidFill>
              </a:rPr>
              <a:t>→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4114800" y="2011680"/>
            <a:ext cx="1554480" cy="1280160"/>
          </a:xfrm>
          <a:prstGeom prst="roundRect">
            <a:avLst>
              <a:gd name="adj" fmla="val 5714"/>
            </a:avLst>
          </a:prstGeom>
          <a:solidFill>
            <a:srgbClr val="2C5F2D"/>
          </a:solidFill>
          <a:ln/>
        </p:spPr>
      </p:sp>
      <p:sp>
        <p:nvSpPr>
          <p:cNvPr id="10" name="Text 8"/>
          <p:cNvSpPr/>
          <p:nvPr/>
        </p:nvSpPr>
        <p:spPr>
          <a:xfrm>
            <a:off x="4114800" y="2011680"/>
            <a:ext cx="15544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ERD &amp;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3NF design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5669280" y="2011680"/>
            <a:ext cx="2286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2C5F2D"/>
                </a:solidFill>
              </a:rPr>
              <a:t>→</a:t>
            </a:r>
            <a:endParaRPr lang="en-US" sz="1800" dirty="0"/>
          </a:p>
        </p:txBody>
      </p:sp>
      <p:sp>
        <p:nvSpPr>
          <p:cNvPr id="12" name="Shape 10"/>
          <p:cNvSpPr/>
          <p:nvPr/>
        </p:nvSpPr>
        <p:spPr>
          <a:xfrm>
            <a:off x="5897880" y="2011680"/>
            <a:ext cx="1554480" cy="1280160"/>
          </a:xfrm>
          <a:prstGeom prst="roundRect">
            <a:avLst>
              <a:gd name="adj" fmla="val 5714"/>
            </a:avLst>
          </a:prstGeom>
          <a:solidFill>
            <a:srgbClr val="97BC62"/>
          </a:solidFill>
          <a:ln/>
        </p:spPr>
      </p:sp>
      <p:sp>
        <p:nvSpPr>
          <p:cNvPr id="13" name="Text 11"/>
          <p:cNvSpPr/>
          <p:nvPr/>
        </p:nvSpPr>
        <p:spPr>
          <a:xfrm>
            <a:off x="5897880" y="2011680"/>
            <a:ext cx="15544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Oracle schema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&amp; constraints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7452360" y="2011680"/>
            <a:ext cx="2286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2C5F2D"/>
                </a:solidFill>
              </a:rPr>
              <a:t>→</a:t>
            </a:r>
            <a:endParaRPr lang="en-US" sz="1800" dirty="0"/>
          </a:p>
        </p:txBody>
      </p:sp>
      <p:sp>
        <p:nvSpPr>
          <p:cNvPr id="15" name="Shape 13"/>
          <p:cNvSpPr/>
          <p:nvPr/>
        </p:nvSpPr>
        <p:spPr>
          <a:xfrm>
            <a:off x="7680960" y="2011680"/>
            <a:ext cx="1554480" cy="1280160"/>
          </a:xfrm>
          <a:prstGeom prst="roundRect">
            <a:avLst>
              <a:gd name="adj" fmla="val 5714"/>
            </a:avLst>
          </a:prstGeom>
          <a:solidFill>
            <a:srgbClr val="2C5F2D"/>
          </a:solidFill>
          <a:ln/>
        </p:spPr>
      </p:sp>
      <p:sp>
        <p:nvSpPr>
          <p:cNvPr id="16" name="Text 14"/>
          <p:cNvSpPr/>
          <p:nvPr/>
        </p:nvSpPr>
        <p:spPr>
          <a:xfrm>
            <a:off x="7680960" y="2011680"/>
            <a:ext cx="15544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PL/SQL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triggers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9235440" y="2011680"/>
            <a:ext cx="2286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2C5F2D"/>
                </a:solidFill>
              </a:rPr>
              <a:t>→</a:t>
            </a:r>
            <a:endParaRPr lang="en-US" sz="1800" dirty="0"/>
          </a:p>
        </p:txBody>
      </p:sp>
      <p:sp>
        <p:nvSpPr>
          <p:cNvPr id="18" name="Shape 16"/>
          <p:cNvSpPr/>
          <p:nvPr/>
        </p:nvSpPr>
        <p:spPr>
          <a:xfrm>
            <a:off x="9464040" y="2011680"/>
            <a:ext cx="1554480" cy="1280160"/>
          </a:xfrm>
          <a:prstGeom prst="roundRect">
            <a:avLst>
              <a:gd name="adj" fmla="val 5714"/>
            </a:avLst>
          </a:prstGeom>
          <a:solidFill>
            <a:srgbClr val="97BC62"/>
          </a:solidFill>
          <a:ln/>
        </p:spPr>
      </p:sp>
      <p:sp>
        <p:nvSpPr>
          <p:cNvPr id="19" name="Text 17"/>
          <p:cNvSpPr/>
          <p:nvPr/>
        </p:nvSpPr>
        <p:spPr>
          <a:xfrm>
            <a:off x="9464040" y="2011680"/>
            <a:ext cx="15544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Testing &amp;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548640" y="3840480"/>
            <a:ext cx="10515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1E2B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Waterfall-style capstone phases I - VIII, tracked continuously on GitHub.</a:t>
            </a:r>
            <a:endParaRPr lang="en-US" sz="13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0515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2C5F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Database Design - ERD (3NF)</a:t>
            </a:r>
            <a:endParaRPr lang="en-US" sz="2800" dirty="0"/>
          </a:p>
        </p:txBody>
      </p:sp>
      <p:pic>
        <p:nvPicPr>
          <p:cNvPr id="3" name="Image 0" descr="/home/claude/sns/diagrams/erd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457200" y="1143000"/>
            <a:ext cx="10972800" cy="36576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0515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2C5F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Business Process Model (Swimlane)</a:t>
            </a:r>
            <a:endParaRPr lang="en-US" sz="2800" dirty="0"/>
          </a:p>
        </p:txBody>
      </p:sp>
      <p:pic>
        <p:nvPicPr>
          <p:cNvPr id="3" name="Image 0" descr="/home/claude/sns/diagrams/bpmn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1828800" y="1097280"/>
            <a:ext cx="8229600" cy="374904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0515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2C5F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Implementation - PL/SQL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48640" y="1234440"/>
            <a:ext cx="10607040" cy="3657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rgbClr val="2C5F2D"/>
                </a:solidFill>
              </a:rPr>
              <a:t>fn_calc_max_allocation()</a:t>
            </a:r>
            <a:endParaRPr lang="en-US" sz="1400" dirty="0"/>
          </a:p>
          <a:p>
            <a:pPr marL="0" indent="0">
              <a:spcAft>
                <a:spcPts val="1000"/>
              </a:spcAft>
              <a:buNone/>
            </a:pPr>
            <a:r>
              <a:rPr lang="en-US" sz="1250" dirty="0">
                <a:solidFill>
                  <a:srgbClr val="1E2B1E"/>
                </a:solidFill>
              </a:rPr>
              <a:t>Soil-specific ceiling = land size x RwSIS max kg/hectare</a:t>
            </a:r>
            <a:endParaRPr lang="en-US" sz="1400" dirty="0"/>
          </a:p>
          <a:p>
            <a:pPr marL="0" indent="0">
              <a:buNone/>
            </a:pPr>
            <a:r>
              <a:rPr lang="en-US" sz="1400" b="1" dirty="0">
                <a:solidFill>
                  <a:srgbClr val="2C5F2D"/>
                </a:solidFill>
              </a:rPr>
              <a:t>pkg_sns_subsidy.record_transaction()</a:t>
            </a:r>
            <a:endParaRPr lang="en-US" sz="1400" dirty="0"/>
          </a:p>
          <a:p>
            <a:pPr marL="0" indent="0">
              <a:spcAft>
                <a:spcPts val="1000"/>
              </a:spcAft>
              <a:buNone/>
            </a:pPr>
            <a:r>
              <a:rPr lang="en-US" sz="1250" dirty="0">
                <a:solidFill>
                  <a:srgbClr val="1E2B1E"/>
                </a:solidFill>
              </a:rPr>
              <a:t>Validates dealer status + remaining ceiling; rejects &amp; flags fraud</a:t>
            </a:r>
            <a:endParaRPr lang="en-US" sz="1400" dirty="0"/>
          </a:p>
          <a:p>
            <a:pPr marL="0" indent="0">
              <a:buNone/>
            </a:pPr>
            <a:r>
              <a:rPr lang="en-US" sz="1400" b="1" dirty="0">
                <a:solidFill>
                  <a:srgbClr val="2C5F2D"/>
                </a:solidFill>
              </a:rPr>
              <a:t>pkg_sns_subsidy.fn_dealer_fraud_score() + detect_ghost_transactions()</a:t>
            </a:r>
            <a:endParaRPr lang="en-US" sz="1400" dirty="0"/>
          </a:p>
          <a:p>
            <a:pPr marL="0" indent="0">
              <a:buNone/>
            </a:pPr>
            <a:r>
              <a:rPr lang="en-US" sz="1250" dirty="0">
                <a:solidFill>
                  <a:srgbClr val="1E2B1E"/>
                </a:solidFill>
              </a:rPr>
              <a:t>Cursor-based scoring of volume concentration per dealer</a:t>
            </a:r>
            <a:endParaRPr lang="en-US" sz="14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0515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2C5F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Triggers, Audit &amp; Security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48640" y="1234440"/>
            <a:ext cx="10607040" cy="3657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rgbClr val="2C5F2D"/>
                </a:solidFill>
              </a:rPr>
              <a:t>trg_farmer_audit / trg_transaction_compound</a:t>
            </a:r>
            <a:endParaRPr lang="en-US" sz="1400" dirty="0"/>
          </a:p>
          <a:p>
            <a:pPr marL="0" indent="0">
              <a:spcAft>
                <a:spcPts val="1000"/>
              </a:spcAft>
              <a:buNone/>
            </a:pPr>
            <a:r>
              <a:rPr lang="en-US" sz="1250" dirty="0">
                <a:solidFill>
                  <a:srgbClr val="1E2B1E"/>
                </a:solidFill>
              </a:rPr>
              <a:t>Row + statement level audit of every change</a:t>
            </a:r>
            <a:endParaRPr lang="en-US" sz="1400" dirty="0"/>
          </a:p>
          <a:p>
            <a:pPr marL="0" indent="0">
              <a:buNone/>
            </a:pPr>
            <a:r>
              <a:rPr lang="en-US" sz="1400" b="1" dirty="0">
                <a:solidFill>
                  <a:srgbClr val="2C5F2D"/>
                </a:solidFill>
              </a:rPr>
              <a:t>trg_allocation_dml_lock</a:t>
            </a:r>
            <a:endParaRPr lang="en-US" sz="1400" dirty="0"/>
          </a:p>
          <a:p>
            <a:pPr marL="0" indent="0">
              <a:spcAft>
                <a:spcPts val="1000"/>
              </a:spcAft>
              <a:buNone/>
            </a:pPr>
            <a:r>
              <a:rPr lang="en-US" sz="1250" dirty="0">
                <a:solidFill>
                  <a:srgbClr val="1E2B1E"/>
                </a:solidFill>
              </a:rPr>
              <a:t>Blocks INSERT/UPDATE/DELETE on allocations during weekdays and public holidays (PUBLIC_HOLIDAY reference table)</a:t>
            </a:r>
            <a:endParaRPr lang="en-US" sz="1400" dirty="0"/>
          </a:p>
          <a:p>
            <a:pPr marL="0" indent="0">
              <a:buNone/>
            </a:pPr>
            <a:r>
              <a:rPr lang="en-US" sz="1400" b="1" dirty="0">
                <a:solidFill>
                  <a:srgbClr val="2C5F2D"/>
                </a:solidFill>
              </a:rPr>
              <a:t>sns_auditor_role</a:t>
            </a:r>
            <a:endParaRPr lang="en-US" sz="1400" dirty="0"/>
          </a:p>
          <a:p>
            <a:pPr marL="0" indent="0">
              <a:buNone/>
            </a:pPr>
            <a:r>
              <a:rPr lang="en-US" sz="1250" dirty="0">
                <a:solidFill>
                  <a:srgbClr val="1E2B1E"/>
                </a:solidFill>
              </a:rPr>
              <a:t>Read-only security role for RAB oversight staff</a:t>
            </a:r>
            <a:endParaRPr lang="en-US" sz="14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2C5F2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0515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Results &amp; Innovation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48640" y="1645920"/>
            <a:ext cx="33832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400" b="1" dirty="0">
                <a:solidFill>
                  <a:srgbClr val="97BC6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100%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548640" y="2651760"/>
            <a:ext cx="33832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over-ceiling redemption attempts rejected in testing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4160520" y="1645920"/>
            <a:ext cx="33832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400" b="1" dirty="0">
                <a:solidFill>
                  <a:srgbClr val="97BC6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Auto</a:t>
            </a:r>
            <a:endParaRPr lang="en-US" sz="3400" dirty="0"/>
          </a:p>
        </p:txBody>
      </p:sp>
      <p:sp>
        <p:nvSpPr>
          <p:cNvPr id="6" name="Text 4"/>
          <p:cNvSpPr/>
          <p:nvPr/>
        </p:nvSpPr>
        <p:spPr>
          <a:xfrm>
            <a:off x="4160520" y="2651760"/>
            <a:ext cx="33832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fraud flags raised for hoarding dealers via cursor scoring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7772400" y="1645920"/>
            <a:ext cx="33832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400" b="1" dirty="0">
                <a:solidFill>
                  <a:srgbClr val="97BC6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Power BI</a:t>
            </a:r>
            <a:endParaRPr lang="en-US" sz="3400" dirty="0"/>
          </a:p>
        </p:txBody>
      </p:sp>
      <p:sp>
        <p:nvSpPr>
          <p:cNvPr id="8" name="Text 6"/>
          <p:cNvSpPr/>
          <p:nvPr/>
        </p:nvSpPr>
        <p:spPr>
          <a:xfrm>
            <a:off x="7772400" y="2651760"/>
            <a:ext cx="33832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 on FRAUD_ALERT &amp; AUDIT_LOG for RAB officers</a:t>
            </a:r>
            <a:endParaRPr lang="en-US" sz="13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0515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2C5F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Conclusion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48640" y="1280160"/>
            <a:ext cx="10515600" cy="3200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1200"/>
              </a:spcAft>
              <a:buNone/>
            </a:pPr>
            <a:r>
              <a:rPr lang="en-US" sz="1500" dirty="0">
                <a:solidFill>
                  <a:srgbClr val="1E2B1E"/>
                </a:solidFill>
              </a:rPr>
              <a:t>SNS demonstrates that a fraud-resistant, soil-aware subsidy allocator is achievable within Oracle using PL/SQL packages, compound triggers, and reference-table-driven business rules.</a:t>
            </a:r>
            <a:endParaRPr lang="en-US" sz="1500" dirty="0"/>
          </a:p>
          <a:p>
            <a:pPr marL="0" indent="0">
              <a:buNone/>
            </a:pPr>
            <a:r>
              <a:rPr lang="en-US" sz="1500" dirty="0">
                <a:solidFill>
                  <a:srgbClr val="1E2B1E"/>
                </a:solidFill>
              </a:rPr>
              <a:t>Next steps: integrate live RwSIS feeds and extend the Power BI dashboard to district-level anomaly heat maps.</a:t>
            </a:r>
            <a:endParaRPr lang="en-US" sz="1500" dirty="0"/>
          </a:p>
        </p:txBody>
      </p:sp>
      <p:sp>
        <p:nvSpPr>
          <p:cNvPr id="4" name="Text 2"/>
          <p:cNvSpPr/>
          <p:nvPr/>
        </p:nvSpPr>
        <p:spPr>
          <a:xfrm>
            <a:off x="548640" y="4572000"/>
            <a:ext cx="10515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"Whatever you do, work at it with all your heart..." - Colossians 3:23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434</Words>
  <Application>Microsoft Office PowerPoint</Application>
  <PresentationFormat>Widescreen</PresentationFormat>
  <Paragraphs>70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4" baseType="lpstr">
      <vt:lpstr>Arial</vt:lpstr>
      <vt:lpstr>Calibri</vt:lpstr>
      <vt:lpstr>Cambria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SNS - Final Presentation</dc:title>
  <dc:subject>PptxGenJS Presentation</dc:subject>
  <dc:creator>Student</dc:creator>
  <cp:lastModifiedBy>Mukiza prevert</cp:lastModifiedBy>
  <cp:revision>1</cp:revision>
  <dcterms:created xsi:type="dcterms:W3CDTF">2026-07-09T11:45:38Z</dcterms:created>
  <dcterms:modified xsi:type="dcterms:W3CDTF">2026-07-15T08:38:07Z</dcterms:modified>
</cp:coreProperties>
</file>